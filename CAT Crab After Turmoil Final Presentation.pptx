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E_CF8C1707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78" r:id="rId3"/>
    <p:sldId id="280" r:id="rId4"/>
    <p:sldId id="269" r:id="rId5"/>
    <p:sldId id="282" r:id="rId6"/>
    <p:sldId id="270" r:id="rId7"/>
    <p:sldId id="273" r:id="rId8"/>
    <p:sldId id="284" r:id="rId9"/>
    <p:sldId id="271" r:id="rId10"/>
    <p:sldId id="276" r:id="rId11"/>
    <p:sldId id="275" r:id="rId12"/>
    <p:sldId id="274" r:id="rId13"/>
    <p:sldId id="285" r:id="rId14"/>
    <p:sldId id="277" r:id="rId15"/>
    <p:sldId id="281" r:id="rId16"/>
    <p:sldId id="28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5E1D8-1EF3-4387-76B0-94979B0DC790}" v="23" dt="2026-06-02T02:51:18.174"/>
    <p1510:client id="{22D75072-5602-CE95-3F4C-FF67F05D28C7}" v="8" dt="2026-06-02T18:47:06.817"/>
    <p1510:client id="{4B20458F-1C57-B8E5-BFE9-794474683EC2}" v="4" dt="2026-06-02T16:16:24.197"/>
    <p1510:client id="{8429B651-F662-8D0B-758C-67EE8C86498A}" v="33" dt="2026-06-02T20:15:27.274"/>
    <p1510:client id="{8FF8EA46-DA39-054F-4F2F-25E736A7D6F6}" v="1154" dt="2026-06-02T05:52:23.440"/>
    <p1510:client id="{991773CD-CEDD-50DD-6CC3-2C5918C60B85}" v="4" dt="2026-06-02T01:55:52.545"/>
    <p1510:client id="{A0B665DB-0E27-B58B-B78E-B5EB1C1F4DB8}" v="130" dt="2026-06-02T18:36:55.520"/>
    <p1510:client id="{B47F1555-5576-4119-A0BA-B4FC4DD3D39F}" v="407" dt="2026-06-02T18:39:44.254"/>
    <p1510:client id="{E2F7B921-8148-708E-031F-6AF9D7D51A56}" v="313" dt="2026-06-02T06:13:53.923"/>
    <p1510:client id="{EB4006AE-628D-2952-69BD-B138D80AE600}" v="428" dt="2026-06-02T05:53:39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omments/modernComment_10E_CF8C17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9A31A7-CC1D-4BE7-8E91-43B62E1DE6C4}" authorId="{95582667-6102-27E7-ED8E-01A166EB4B6B}" created="2026-06-02T05:51:31.2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82064647" sldId="270"/>
      <ac:spMk id="15" creationId="{45385864-2A9D-549B-3359-1EBDBF378724}"/>
      <ac:txMk cp="1" len="65">
        <ac:context len="226" hash="2799029003"/>
      </ac:txMk>
    </ac:txMkLst>
    <p188:pos x="3154325" y="1736651"/>
    <p188:replyLst>
      <p188:reply id="{BFE7C5F0-688B-42F2-A450-A5650139877B}" authorId="{95582667-6102-27E7-ED8E-01A166EB4B6B}" created="2026-06-02T05:52:23.440">
        <p188:txBody>
          <a:bodyPr/>
          <a:lstStyle/>
          <a:p>
            <a:r>
              <a:rPr lang="en-US"/>
              <a:t>Low absorbance less glucose, but we cannot conclude if the glucose is being used or not</a:t>
            </a:r>
          </a:p>
        </p188:txBody>
      </p188:reply>
    </p188:replyLst>
    <p188:txBody>
      <a:bodyPr/>
      <a:lstStyle/>
      <a:p>
        <a:r>
          <a:rPr lang="en-US"/>
          <a:t>I do not think that this is true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9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16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7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2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6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9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4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46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204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67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8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88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2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397AE-F95D-4710-947F-2DC1056AAF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851DD-0EF2-4702-A26F-6B5827637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59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plos.org/plosone/article?id=10.1371/journal.pone.032909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0E_CF8C170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nvpol.2022.119766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envpol.2021.117148" TargetMode="External"/><Relationship Id="rId4" Type="http://schemas.openxmlformats.org/officeDocument/2006/relationships/hyperlink" Target="https://doi.org/10.25923/g589-653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F211C-D0AD-B287-2E73-BC3D717F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712A34-696A-98F1-F3B7-1C8A853B125A}"/>
              </a:ext>
            </a:extLst>
          </p:cNvPr>
          <p:cNvSpPr txBox="1"/>
          <p:nvPr/>
        </p:nvSpPr>
        <p:spPr>
          <a:xfrm>
            <a:off x="624390" y="305263"/>
            <a:ext cx="1094378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/>
              <a:t>Effects of Anthropogenic Noise Pollution on Behavioral and Physiological Stress Responses in Hairy Shore Crabs (</a:t>
            </a:r>
            <a:r>
              <a:rPr lang="en-US" sz="4800" b="1" i="1" err="1"/>
              <a:t>Hemigrapsus</a:t>
            </a:r>
            <a:r>
              <a:rPr lang="en-US" sz="4800" b="1" i="1"/>
              <a:t> </a:t>
            </a:r>
            <a:r>
              <a:rPr lang="en-US" sz="4800" b="1" i="1" err="1"/>
              <a:t>oregonensis</a:t>
            </a:r>
            <a:r>
              <a:rPr lang="en-US" sz="4800" b="1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B44C6-646D-8CAE-15A5-8CE42FADDFCD}"/>
              </a:ext>
            </a:extLst>
          </p:cNvPr>
          <p:cNvSpPr txBox="1"/>
          <p:nvPr/>
        </p:nvSpPr>
        <p:spPr>
          <a:xfrm>
            <a:off x="-22487" y="4710898"/>
            <a:ext cx="1204455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500" b="1"/>
              <a:t>By: Tyler Lloyd, Ethan Audia, Dominic Delaat, Andrew Margolis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70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74A0-E277-276B-3346-F24E1D82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/>
          <a:lstStyle/>
          <a:p>
            <a:r>
              <a:rPr lang="en-US"/>
              <a:t>Why should we care?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910355-F8CD-37B8-00C9-4296D573C1B4}"/>
              </a:ext>
            </a:extLst>
          </p:cNvPr>
          <p:cNvSpPr txBox="1">
            <a:spLocks/>
          </p:cNvSpPr>
          <p:nvPr/>
        </p:nvSpPr>
        <p:spPr>
          <a:xfrm>
            <a:off x="460744" y="1328414"/>
            <a:ext cx="5949482" cy="48801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/>
              <a:t>Coastal soundscapes are changing</a:t>
            </a:r>
            <a:endParaRPr lang="en-US"/>
          </a:p>
          <a:p>
            <a:pPr lvl="1"/>
            <a:r>
              <a:rPr lang="en-US" sz="3000"/>
              <a:t>Marine noise levels have approximately doubled each decade in many regions (Jalkanen et al. 2022)</a:t>
            </a:r>
            <a:endParaRPr lang="en-US">
              <a:cs typeface="Times New Roman"/>
            </a:endParaRPr>
          </a:p>
          <a:p>
            <a:pPr lvl="1"/>
            <a:r>
              <a:rPr lang="en-US" sz="3000"/>
              <a:t>Anthropogenic noise is increasing globally through:</a:t>
            </a:r>
          </a:p>
          <a:p>
            <a:pPr lvl="2"/>
            <a:r>
              <a:rPr lang="en-US" sz="2800"/>
              <a:t>Shipping</a:t>
            </a:r>
          </a:p>
          <a:p>
            <a:pPr lvl="2"/>
            <a:r>
              <a:rPr lang="en-US" sz="2800"/>
              <a:t>Coastal construction</a:t>
            </a:r>
          </a:p>
          <a:p>
            <a:pPr lvl="2"/>
            <a:r>
              <a:rPr lang="en-US" sz="2800"/>
              <a:t>Recreational boating</a:t>
            </a:r>
          </a:p>
          <a:p>
            <a:pPr lvl="2"/>
            <a:r>
              <a:rPr lang="en-US" sz="2800"/>
              <a:t>Waterfront concerts and events</a:t>
            </a:r>
          </a:p>
          <a:p>
            <a:pPr lvl="1"/>
            <a:r>
              <a:rPr lang="en-US" sz="3000"/>
              <a:t>Noise pollution is now recognized as an important environmental stressor here in the PNW (Holt et al. 2026)</a:t>
            </a:r>
            <a:endParaRPr lang="en-US" sz="3000" b="1"/>
          </a:p>
          <a:p>
            <a:pPr lvl="1"/>
            <a:r>
              <a:rPr lang="en-US" sz="3000"/>
              <a:t>Invertebrates' response to this stressor is understudied (Aimon et al. 2021)</a:t>
            </a:r>
          </a:p>
          <a:p>
            <a:pPr lvl="2"/>
            <a:r>
              <a:rPr lang="en-US" sz="2800">
                <a:ea typeface="+mn-lt"/>
                <a:cs typeface="+mn-lt"/>
              </a:rPr>
              <a:t>Ship noise was concluded to increase respiration in European green crabs (Birch et al., </a:t>
            </a:r>
            <a:r>
              <a:rPr lang="en-US" sz="2800">
                <a:ea typeface="+mn-lt"/>
                <a:cs typeface="+mn-lt"/>
                <a:hlinkClick r:id="rId2"/>
              </a:rPr>
              <a:t>2025</a:t>
            </a:r>
            <a:r>
              <a:rPr lang="en-US" sz="2800">
                <a:ea typeface="+mn-lt"/>
                <a:cs typeface="+mn-lt"/>
              </a:rPr>
              <a:t>). </a:t>
            </a:r>
          </a:p>
          <a:p>
            <a:pPr lvl="1"/>
            <a:endParaRPr lang="en-US" sz="5500"/>
          </a:p>
          <a:p>
            <a:pPr lvl="1"/>
            <a:endParaRPr lang="en-US" sz="5500"/>
          </a:p>
          <a:p>
            <a:pPr marL="914400" lvl="2" indent="0">
              <a:buNone/>
            </a:pPr>
            <a:endParaRPr lang="en-US" sz="3800"/>
          </a:p>
          <a:p>
            <a:pPr marL="0" indent="0">
              <a:buNone/>
            </a:pPr>
            <a:endParaRPr lang="en-US" sz="32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23BF1-6378-8997-8508-B380FB2A5A2E}"/>
              </a:ext>
            </a:extLst>
          </p:cNvPr>
          <p:cNvSpPr/>
          <p:nvPr/>
        </p:nvSpPr>
        <p:spPr>
          <a:xfrm>
            <a:off x="7419164" y="2315535"/>
            <a:ext cx="3851348" cy="222693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Knowledge Gap:</a:t>
            </a:r>
            <a:r>
              <a:rPr lang="en-US"/>
              <a:t> How does acute </a:t>
            </a:r>
            <a:r>
              <a:rPr lang="en-US">
                <a:ea typeface="+mn-lt"/>
                <a:cs typeface="+mn-lt"/>
              </a:rPr>
              <a:t>anthropogenic </a:t>
            </a:r>
            <a:r>
              <a:rPr lang="en-US"/>
              <a:t>noise exposure affect shore crabs' physiology?</a:t>
            </a:r>
            <a:endParaRPr lang="en-US">
              <a:solidFill>
                <a:srgbClr val="000000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0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D523-A927-DB26-A6B3-F199B4C9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534" y="609600"/>
            <a:ext cx="4754022" cy="1326321"/>
          </a:xfrm>
        </p:spPr>
        <p:txBody>
          <a:bodyPr>
            <a:normAutofit/>
          </a:bodyPr>
          <a:lstStyle/>
          <a:p>
            <a:r>
              <a:rPr lang="en-US"/>
              <a:t>Research Hypothesis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5B8E19-647C-77C2-88C2-5F8B7F2F8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7" b="5728"/>
          <a:stretch>
            <a:fillRect/>
          </a:stretch>
        </p:blipFill>
        <p:spPr bwMode="auto">
          <a:xfrm>
            <a:off x="20" y="10"/>
            <a:ext cx="6095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A907-70BC-B636-6BC1-D8BBB08B5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534" y="2096064"/>
            <a:ext cx="4754022" cy="3695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Does acute anthropogenic noise exposure alter behavioral or physiological stress responses in hairy shore crabs?</a:t>
            </a:r>
          </a:p>
          <a:p>
            <a:r>
              <a:rPr lang="en-US" sz="1700" b="1"/>
              <a:t>Hypothesis</a:t>
            </a:r>
          </a:p>
          <a:p>
            <a:pPr lvl="1"/>
            <a:r>
              <a:rPr lang="en-US" sz="1700"/>
              <a:t>Noise-exposed crabs will exhibit:</a:t>
            </a:r>
          </a:p>
          <a:p>
            <a:pPr lvl="2"/>
            <a:r>
              <a:rPr lang="en-US" sz="1700"/>
              <a:t>Increased respiration </a:t>
            </a:r>
          </a:p>
          <a:p>
            <a:pPr lvl="2"/>
            <a:r>
              <a:rPr lang="en-US" sz="1700"/>
              <a:t>Increased glucose mobilization </a:t>
            </a:r>
          </a:p>
          <a:p>
            <a:pPr lvl="2"/>
            <a:r>
              <a:rPr lang="en-US" sz="1700"/>
              <a:t>Decreased righting behavior indicating elevated fight or flight stress response.</a:t>
            </a:r>
          </a:p>
          <a:p>
            <a:endParaRPr lang="en-US" sz="1700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0DCF65E-F84E-483D-83D7-A1616D569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6560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07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BD391B-76F9-BBE6-40B6-C5566D08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16" y="1450149"/>
            <a:ext cx="4725166" cy="4408340"/>
          </a:xfrm>
        </p:spPr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/>
              <a:t>Methods Setup</a:t>
            </a:r>
          </a:p>
          <a:p>
            <a:r>
              <a:rPr lang="en-US" sz="2000"/>
              <a:t>Control (quiet) group</a:t>
            </a:r>
          </a:p>
          <a:p>
            <a:r>
              <a:rPr lang="en-US" sz="2000"/>
              <a:t>Noise treatment group (~75 dB EDM)</a:t>
            </a:r>
          </a:p>
          <a:p>
            <a:r>
              <a:rPr lang="en-US" sz="2000"/>
              <a:t>Measurements taken over 3 weeks</a:t>
            </a:r>
          </a:p>
          <a:p>
            <a:r>
              <a:rPr lang="en-US" sz="2000"/>
              <a:t>2-hour interval, 1x per week</a:t>
            </a:r>
          </a:p>
          <a:p>
            <a:r>
              <a:rPr lang="en-US" sz="2000"/>
              <a:t>Week 1: n = 12, Week 2 &amp; 3: n = 10</a:t>
            </a:r>
          </a:p>
          <a:p>
            <a:r>
              <a:rPr lang="en-US"/>
              <a:t>Data collection began after 1 hour of noise exposure</a:t>
            </a:r>
          </a:p>
          <a:p>
            <a:r>
              <a:rPr lang="en-US" sz="2000"/>
              <a:t>Respiration measured at T0 </a:t>
            </a:r>
            <a:r>
              <a:rPr lang="en-US"/>
              <a:t>(1:00</a:t>
            </a:r>
            <a:r>
              <a:rPr lang="en-US" sz="2000"/>
              <a:t>), T1 (1:30), and T2 (2:00)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CDF249-A5AA-E227-912B-888BA2608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0"/>
          <a:stretch>
            <a:fillRect/>
          </a:stretch>
        </p:blipFill>
        <p:spPr>
          <a:xfrm>
            <a:off x="5160078" y="10"/>
            <a:ext cx="7032825" cy="4378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0EBBF-97FF-4067-9028-96E8067DA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9826"/>
          <a:stretch>
            <a:fillRect/>
          </a:stretch>
        </p:blipFill>
        <p:spPr bwMode="auto">
          <a:xfrm>
            <a:off x="5160078" y="4378817"/>
            <a:ext cx="3524828" cy="2479183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82E8B-AD28-DF54-08A2-24359E1D4E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2" r="-1" b="-1"/>
          <a:stretch>
            <a:fillRect/>
          </a:stretch>
        </p:blipFill>
        <p:spPr bwMode="auto">
          <a:xfrm>
            <a:off x="8679889" y="4378818"/>
            <a:ext cx="3524828" cy="24791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920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B67EDD-98FA-36A2-A7B3-6DEA22A4C5F1}"/>
              </a:ext>
            </a:extLst>
          </p:cNvPr>
          <p:cNvSpPr/>
          <p:nvPr/>
        </p:nvSpPr>
        <p:spPr>
          <a:xfrm>
            <a:off x="348927" y="1852356"/>
            <a:ext cx="2325278" cy="11940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82B045-75EB-A9E5-51A2-EDA03140E8F8}"/>
              </a:ext>
            </a:extLst>
          </p:cNvPr>
          <p:cNvSpPr/>
          <p:nvPr/>
        </p:nvSpPr>
        <p:spPr>
          <a:xfrm>
            <a:off x="1125339" y="2149854"/>
            <a:ext cx="771380" cy="8981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JBL</a:t>
            </a:r>
          </a:p>
        </p:txBody>
      </p:sp>
      <p:pic>
        <p:nvPicPr>
          <p:cNvPr id="8" name="Graphic 7" descr="Crab with solid fill">
            <a:extLst>
              <a:ext uri="{FF2B5EF4-FFF2-40B4-BE49-F238E27FC236}">
                <a16:creationId xmlns:a16="http://schemas.microsoft.com/office/drawing/2014/main" id="{B6A96C77-0677-931D-C9DF-2866923847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769" y="2547594"/>
            <a:ext cx="490194" cy="490194"/>
          </a:xfrm>
          <a:prstGeom prst="rect">
            <a:avLst/>
          </a:prstGeom>
        </p:spPr>
      </p:pic>
      <p:pic>
        <p:nvPicPr>
          <p:cNvPr id="9" name="Graphic 8" descr="Crab with solid fill">
            <a:extLst>
              <a:ext uri="{FF2B5EF4-FFF2-40B4-BE49-F238E27FC236}">
                <a16:creationId xmlns:a16="http://schemas.microsoft.com/office/drawing/2014/main" id="{FEE4B898-C0E0-E8D3-7432-29268134C4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0161" y="2304068"/>
            <a:ext cx="490194" cy="490194"/>
          </a:xfrm>
          <a:prstGeom prst="rect">
            <a:avLst/>
          </a:prstGeom>
        </p:spPr>
      </p:pic>
      <p:pic>
        <p:nvPicPr>
          <p:cNvPr id="10" name="Graphic 9" descr="Crab with solid fill">
            <a:extLst>
              <a:ext uri="{FF2B5EF4-FFF2-40B4-BE49-F238E27FC236}">
                <a16:creationId xmlns:a16="http://schemas.microsoft.com/office/drawing/2014/main" id="{F134EF31-3865-0F9F-1679-F87F37E9D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769" y="1950563"/>
            <a:ext cx="490194" cy="490194"/>
          </a:xfrm>
          <a:prstGeom prst="rect">
            <a:avLst/>
          </a:prstGeom>
        </p:spPr>
      </p:pic>
      <p:pic>
        <p:nvPicPr>
          <p:cNvPr id="11" name="Graphic 10" descr="Crab with solid fill">
            <a:extLst>
              <a:ext uri="{FF2B5EF4-FFF2-40B4-BE49-F238E27FC236}">
                <a16:creationId xmlns:a16="http://schemas.microsoft.com/office/drawing/2014/main" id="{5E2EDF39-CED9-DB68-2F05-846DD450A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759" y="1950563"/>
            <a:ext cx="490194" cy="490194"/>
          </a:xfrm>
          <a:prstGeom prst="rect">
            <a:avLst/>
          </a:prstGeom>
        </p:spPr>
      </p:pic>
      <p:pic>
        <p:nvPicPr>
          <p:cNvPr id="12" name="Graphic 11" descr="Crab with solid fill">
            <a:extLst>
              <a:ext uri="{FF2B5EF4-FFF2-40B4-BE49-F238E27FC236}">
                <a16:creationId xmlns:a16="http://schemas.microsoft.com/office/drawing/2014/main" id="{3F6D3881-DB85-3875-AC1B-0648A95E6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738" y="2304068"/>
            <a:ext cx="490194" cy="490194"/>
          </a:xfrm>
          <a:prstGeom prst="rect">
            <a:avLst/>
          </a:prstGeom>
        </p:spPr>
      </p:pic>
      <p:pic>
        <p:nvPicPr>
          <p:cNvPr id="13" name="Graphic 12" descr="Crab with solid fill">
            <a:extLst>
              <a:ext uri="{FF2B5EF4-FFF2-40B4-BE49-F238E27FC236}">
                <a16:creationId xmlns:a16="http://schemas.microsoft.com/office/drawing/2014/main" id="{92E2A779-0969-E913-31DB-78F49A90C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212" y="2594728"/>
            <a:ext cx="490194" cy="490194"/>
          </a:xfrm>
          <a:prstGeom prst="rect">
            <a:avLst/>
          </a:prstGeom>
        </p:spPr>
      </p:pic>
      <p:pic>
        <p:nvPicPr>
          <p:cNvPr id="20" name="Graphic 19" descr="Music with solid fill">
            <a:extLst>
              <a:ext uri="{FF2B5EF4-FFF2-40B4-BE49-F238E27FC236}">
                <a16:creationId xmlns:a16="http://schemas.microsoft.com/office/drawing/2014/main" id="{FF94DB24-F75B-C790-0991-818CF1A8F8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4615" y="1628480"/>
            <a:ext cx="443060" cy="44306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53102A-3561-4C25-6851-DC3D23868920}"/>
              </a:ext>
            </a:extLst>
          </p:cNvPr>
          <p:cNvSpPr/>
          <p:nvPr/>
        </p:nvSpPr>
        <p:spPr>
          <a:xfrm>
            <a:off x="348927" y="3647799"/>
            <a:ext cx="2325278" cy="11940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Crab with solid fill">
            <a:extLst>
              <a:ext uri="{FF2B5EF4-FFF2-40B4-BE49-F238E27FC236}">
                <a16:creationId xmlns:a16="http://schemas.microsoft.com/office/drawing/2014/main" id="{063FCE0C-92C5-21B1-F770-99A6576CF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0161" y="4244417"/>
            <a:ext cx="490194" cy="490194"/>
          </a:xfrm>
          <a:prstGeom prst="rect">
            <a:avLst/>
          </a:prstGeom>
        </p:spPr>
      </p:pic>
      <p:pic>
        <p:nvPicPr>
          <p:cNvPr id="15" name="Graphic 14" descr="Crab with solid fill">
            <a:extLst>
              <a:ext uri="{FF2B5EF4-FFF2-40B4-BE49-F238E27FC236}">
                <a16:creationId xmlns:a16="http://schemas.microsoft.com/office/drawing/2014/main" id="{9AD5E002-B0E4-5079-BEBD-F48BCC325E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769" y="3875201"/>
            <a:ext cx="490194" cy="490194"/>
          </a:xfrm>
          <a:prstGeom prst="rect">
            <a:avLst/>
          </a:prstGeom>
        </p:spPr>
      </p:pic>
      <p:pic>
        <p:nvPicPr>
          <p:cNvPr id="16" name="Graphic 15" descr="Crab with solid fill">
            <a:extLst>
              <a:ext uri="{FF2B5EF4-FFF2-40B4-BE49-F238E27FC236}">
                <a16:creationId xmlns:a16="http://schemas.microsoft.com/office/drawing/2014/main" id="{31309545-3DC2-8F77-0E8A-ADE3C2417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1645" y="4244417"/>
            <a:ext cx="490194" cy="490194"/>
          </a:xfrm>
          <a:prstGeom prst="rect">
            <a:avLst/>
          </a:prstGeom>
        </p:spPr>
      </p:pic>
      <p:pic>
        <p:nvPicPr>
          <p:cNvPr id="17" name="Graphic 16" descr="Crab with solid fill">
            <a:extLst>
              <a:ext uri="{FF2B5EF4-FFF2-40B4-BE49-F238E27FC236}">
                <a16:creationId xmlns:a16="http://schemas.microsoft.com/office/drawing/2014/main" id="{7947B17E-1EB9-110E-E525-7807DC4CC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789" y="4126583"/>
            <a:ext cx="490194" cy="490194"/>
          </a:xfrm>
          <a:prstGeom prst="rect">
            <a:avLst/>
          </a:prstGeom>
        </p:spPr>
      </p:pic>
      <p:pic>
        <p:nvPicPr>
          <p:cNvPr id="18" name="Graphic 17" descr="Crab with solid fill">
            <a:extLst>
              <a:ext uri="{FF2B5EF4-FFF2-40B4-BE49-F238E27FC236}">
                <a16:creationId xmlns:a16="http://schemas.microsoft.com/office/drawing/2014/main" id="{4D633AAA-6DB3-B45B-3CD5-EF339BA32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284" y="3875201"/>
            <a:ext cx="490194" cy="490194"/>
          </a:xfrm>
          <a:prstGeom prst="rect">
            <a:avLst/>
          </a:prstGeom>
        </p:spPr>
      </p:pic>
      <p:pic>
        <p:nvPicPr>
          <p:cNvPr id="19" name="Graphic 18" descr="Crab with solid fill">
            <a:extLst>
              <a:ext uri="{FF2B5EF4-FFF2-40B4-BE49-F238E27FC236}">
                <a16:creationId xmlns:a16="http://schemas.microsoft.com/office/drawing/2014/main" id="{3244FE1A-04E8-0628-A516-95FDE2C07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758" y="4346542"/>
            <a:ext cx="490194" cy="49019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F323833-4940-2F7B-915F-3B30C61671D7}"/>
              </a:ext>
            </a:extLst>
          </p:cNvPr>
          <p:cNvSpPr/>
          <p:nvPr/>
        </p:nvSpPr>
        <p:spPr>
          <a:xfrm>
            <a:off x="2764838" y="3996749"/>
            <a:ext cx="1115505" cy="4949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Control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29045E-3025-B5C4-59A9-5EECE21BA216}"/>
              </a:ext>
            </a:extLst>
          </p:cNvPr>
          <p:cNvSpPr/>
          <p:nvPr/>
        </p:nvSpPr>
        <p:spPr>
          <a:xfrm>
            <a:off x="2765195" y="2262433"/>
            <a:ext cx="1461155" cy="3692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Treatment</a:t>
            </a:r>
          </a:p>
        </p:txBody>
      </p:sp>
      <p:pic>
        <p:nvPicPr>
          <p:cNvPr id="25" name="Picture 14" descr="A crab with a dropper&#10;&#10;AI-generated content may be incorrect.">
            <a:extLst>
              <a:ext uri="{FF2B5EF4-FFF2-40B4-BE49-F238E27FC236}">
                <a16:creationId xmlns:a16="http://schemas.microsoft.com/office/drawing/2014/main" id="{43757F40-1E1D-3C93-6747-17DF3F7DC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4937" y="858992"/>
            <a:ext cx="1574602" cy="15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A red crab with a black arrow and a clock&#10;&#10;AI-generated content may be incorrect.">
            <a:extLst>
              <a:ext uri="{FF2B5EF4-FFF2-40B4-BE49-F238E27FC236}">
                <a16:creationId xmlns:a16="http://schemas.microsoft.com/office/drawing/2014/main" id="{2A429E58-EFFD-3356-D803-26A880BEE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" r="931" b="-3"/>
          <a:stretch>
            <a:fillRect/>
          </a:stretch>
        </p:blipFill>
        <p:spPr bwMode="auto">
          <a:xfrm>
            <a:off x="5028419" y="2576650"/>
            <a:ext cx="2127300" cy="170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Two glasses with crabs in it&#10;&#10;AI-generated content may be incorrect.">
            <a:extLst>
              <a:ext uri="{FF2B5EF4-FFF2-40B4-BE49-F238E27FC236}">
                <a16:creationId xmlns:a16="http://schemas.microsoft.com/office/drawing/2014/main" id="{080AAF31-BE53-E23D-7AB9-9763C9270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19" b="2"/>
          <a:stretch>
            <a:fillRect/>
          </a:stretch>
        </p:blipFill>
        <p:spPr bwMode="auto">
          <a:xfrm>
            <a:off x="5183601" y="4493474"/>
            <a:ext cx="1828784" cy="147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F1715EF4-2718-C84C-A89F-F23CB58EBDF9}"/>
              </a:ext>
            </a:extLst>
          </p:cNvPr>
          <p:cNvSpPr/>
          <p:nvPr/>
        </p:nvSpPr>
        <p:spPr>
          <a:xfrm>
            <a:off x="3519339" y="3173690"/>
            <a:ext cx="1076226" cy="51847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5E976D9-099C-151A-61EC-A38E312643EA}"/>
              </a:ext>
            </a:extLst>
          </p:cNvPr>
          <p:cNvSpPr/>
          <p:nvPr/>
        </p:nvSpPr>
        <p:spPr>
          <a:xfrm>
            <a:off x="7682844" y="3173690"/>
            <a:ext cx="1076226" cy="51847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File:RStudio logo flat.svg - Wikimedia Commons">
            <a:extLst>
              <a:ext uri="{FF2B5EF4-FFF2-40B4-BE49-F238E27FC236}">
                <a16:creationId xmlns:a16="http://schemas.microsoft.com/office/drawing/2014/main" id="{2D68FEA2-8F86-261D-971B-39B2ADFDF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341" y="2917399"/>
            <a:ext cx="2385376" cy="103087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0E186C8-F067-082E-0FA1-7EDE67D55D40}"/>
              </a:ext>
            </a:extLst>
          </p:cNvPr>
          <p:cNvSpPr/>
          <p:nvPr/>
        </p:nvSpPr>
        <p:spPr>
          <a:xfrm>
            <a:off x="834217" y="4860159"/>
            <a:ext cx="1539087" cy="3692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10c | 35 ppt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80CD1E-371D-6AFF-B143-5CA1CA56F490}"/>
              </a:ext>
            </a:extLst>
          </p:cNvPr>
          <p:cNvSpPr/>
          <p:nvPr/>
        </p:nvSpPr>
        <p:spPr>
          <a:xfrm>
            <a:off x="704330" y="3050409"/>
            <a:ext cx="1617018" cy="4298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10c | 35 ppt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3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19CC2E4-8F3A-138B-599C-0C393B4AF5DF}"/>
              </a:ext>
            </a:extLst>
          </p:cNvPr>
          <p:cNvSpPr txBox="1"/>
          <p:nvPr/>
        </p:nvSpPr>
        <p:spPr>
          <a:xfrm>
            <a:off x="8363084" y="809917"/>
            <a:ext cx="35814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/>
              <a:t>Glucose Assay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385864-2A9D-549B-3359-1EBDBF378724}"/>
              </a:ext>
            </a:extLst>
          </p:cNvPr>
          <p:cNvSpPr txBox="1"/>
          <p:nvPr/>
        </p:nvSpPr>
        <p:spPr>
          <a:xfrm>
            <a:off x="8365439" y="1991817"/>
            <a:ext cx="3581400" cy="51706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Glucose absorbance reflects amount of glucose present in hemolymph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400"/>
              <a:t>Low absorbance = low glucose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No significant treatment effect.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Noise-exposed crabs exhibited greater variability.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Individual responses varied substantially.</a:t>
            </a:r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8EBC4-782D-43F8-9A43-7E307B30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5" y="303598"/>
            <a:ext cx="7423211" cy="616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646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47822-14E0-E80F-E5D1-2A6E76CD9C84}"/>
              </a:ext>
            </a:extLst>
          </p:cNvPr>
          <p:cNvSpPr txBox="1"/>
          <p:nvPr/>
        </p:nvSpPr>
        <p:spPr>
          <a:xfrm>
            <a:off x="8519352" y="1166842"/>
            <a:ext cx="3421380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/>
              <a:t>Behavioral Response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Noise-exposed crabs generally required longer to right themselves. 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/>
              <a:t>2 outliers with extreme times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Largest treatment effect observed among all measured variables.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Extreme </a:t>
            </a:r>
            <a:r>
              <a:rPr lang="en-US" err="1"/>
              <a:t>righting</a:t>
            </a:r>
            <a:r>
              <a:rPr lang="en-US"/>
              <a:t> times much more frequent in treatment individuals.</a:t>
            </a:r>
          </a:p>
          <a:p>
            <a:endParaRPr lang="en-US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AC8E013F-03EB-6631-F34C-EF0D51C26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96" b="136"/>
          <a:stretch>
            <a:fillRect/>
          </a:stretch>
        </p:blipFill>
        <p:spPr>
          <a:xfrm>
            <a:off x="621344" y="702723"/>
            <a:ext cx="7760762" cy="545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8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91440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prstClr val="white"/>
                </a:solidFill>
                <a:latin typeface="Calibri"/>
              </a:rPr>
              <a:t>Righting Time</a:t>
            </a:r>
            <a:r>
              <a:rPr lang="en-US" sz="3600">
                <a:solidFill>
                  <a:prstClr val="white"/>
                </a:solidFill>
                <a:latin typeface="Calibri"/>
              </a:rPr>
              <a:t> in simple terms</a:t>
            </a:r>
            <a:endParaRPr lang="en-US" sz="3600" b="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Box Control"/>
          <p:cNvSpPr>
            <a:spLocks noGrp="1"/>
          </p:cNvSpPr>
          <p:nvPr/>
        </p:nvSpPr>
        <p:spPr>
          <a:xfrm>
            <a:off x="457200" y="1371600"/>
            <a:ext cx="2743200" cy="3200400"/>
          </a:xfrm>
          <a:prstGeom prst="roundRect">
            <a:avLst>
              <a:gd name="adj" fmla="val 16667"/>
            </a:avLst>
          </a:prstGeom>
          <a:solidFill>
            <a:srgbClr val="1C4966"/>
          </a:solidFill>
          <a:ln w="19050">
            <a:solidFill>
              <a:srgbClr val="4AABDB"/>
            </a:solidFill>
          </a:ln>
        </p:spPr>
        <p:txBody>
          <a:bodyPr vert="horz" lIns="91440" tIns="91440" rIns="91440" bIns="91440" anchor="ctr"/>
          <a:lstStyle/>
          <a:p>
            <a:pPr algn="ctr">
              <a:spcBef>
                <a:spcPts val="0"/>
              </a:spcBef>
            </a:pPr>
            <a:r>
              <a:rPr lang="en-US" sz="1400" b="0">
                <a:solidFill>
                  <a:srgbClr val="A8D4EC"/>
                </a:solidFill>
                <a:latin typeface="Calibri"/>
              </a:rPr>
              <a:t>CONTROL</a:t>
            </a:r>
          </a:p>
          <a:p>
            <a:pPr algn="ctr">
              <a:spcBef>
                <a:spcPts val="200"/>
              </a:spcBef>
            </a:pPr>
            <a:r>
              <a:rPr lang="en-US" sz="7200" b="1">
                <a:solidFill>
                  <a:prstClr val="white"/>
                </a:solidFill>
                <a:latin typeface="Calibri"/>
              </a:rPr>
              <a:t>0.53s</a:t>
            </a:r>
          </a:p>
          <a:p>
            <a:pPr algn="ctr">
              <a:spcBef>
                <a:spcPts val="200"/>
              </a:spcBef>
            </a:pPr>
            <a:r>
              <a:rPr lang="en-US" sz="1400">
                <a:solidFill>
                  <a:srgbClr val="A8D4EC"/>
                </a:solidFill>
                <a:latin typeface="Calibri"/>
              </a:rPr>
              <a:t>median righting time</a:t>
            </a:r>
          </a:p>
        </p:txBody>
      </p:sp>
      <p:sp>
        <p:nvSpPr>
          <p:cNvPr id="50" name="Arrow"/>
          <p:cNvSpPr/>
          <p:nvPr/>
        </p:nvSpPr>
        <p:spPr>
          <a:xfrm>
            <a:off x="3352800" y="2743200"/>
            <a:ext cx="457200" cy="457200"/>
          </a:xfrm>
          <a:prstGeom prst="rightArrow">
            <a:avLst/>
          </a:prstGeom>
          <a:solidFill>
            <a:srgbClr val="4AAB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Box Treatment"/>
          <p:cNvSpPr>
            <a:spLocks noGrp="1"/>
          </p:cNvSpPr>
          <p:nvPr/>
        </p:nvSpPr>
        <p:spPr>
          <a:xfrm>
            <a:off x="3962400" y="1371600"/>
            <a:ext cx="2743200" cy="3200400"/>
          </a:xfrm>
          <a:prstGeom prst="roundRect">
            <a:avLst>
              <a:gd name="adj" fmla="val 16667"/>
            </a:avLst>
          </a:prstGeom>
          <a:solidFill>
            <a:srgbClr val="4A1C1C"/>
          </a:solidFill>
          <a:ln w="19050">
            <a:solidFill>
              <a:srgbClr val="E86B6B"/>
            </a:solidFill>
          </a:ln>
        </p:spPr>
        <p:txBody>
          <a:bodyPr vert="horz" lIns="91440" tIns="91440" rIns="91440" bIns="91440" anchor="ctr"/>
          <a:lstStyle/>
          <a:p>
            <a:pPr algn="ctr">
              <a:spcBef>
                <a:spcPts val="0"/>
              </a:spcBef>
            </a:pPr>
            <a:r>
              <a:rPr lang="en-US" sz="1400" b="0">
                <a:solidFill>
                  <a:srgbClr val="F0A8A8"/>
                </a:solidFill>
                <a:latin typeface="Calibri"/>
              </a:rPr>
              <a:t>NOISE-EXPOSED</a:t>
            </a:r>
          </a:p>
          <a:p>
            <a:pPr algn="ctr">
              <a:spcBef>
                <a:spcPts val="200"/>
              </a:spcBef>
            </a:pPr>
            <a:r>
              <a:rPr lang="en-US" sz="7200" b="1">
                <a:solidFill>
                  <a:prstClr val="white"/>
                </a:solidFill>
                <a:latin typeface="Calibri"/>
              </a:rPr>
              <a:t>0.94s</a:t>
            </a:r>
          </a:p>
          <a:p>
            <a:pPr algn="ctr">
              <a:spcBef>
                <a:spcPts val="200"/>
              </a:spcBef>
            </a:pPr>
            <a:r>
              <a:rPr lang="en-US" sz="1400">
                <a:solidFill>
                  <a:srgbClr val="F0A8A8"/>
                </a:solidFill>
                <a:latin typeface="Calibri"/>
              </a:rPr>
              <a:t>median righting time</a:t>
            </a:r>
          </a:p>
        </p:txBody>
      </p:sp>
      <p:sp>
        <p:nvSpPr>
          <p:cNvPr id="30" name="Box Pct"/>
          <p:cNvSpPr>
            <a:spLocks noGrp="1"/>
          </p:cNvSpPr>
          <p:nvPr/>
        </p:nvSpPr>
        <p:spPr>
          <a:xfrm>
            <a:off x="7467600" y="1371600"/>
            <a:ext cx="4267200" cy="1447800"/>
          </a:xfrm>
          <a:prstGeom prst="roundRect">
            <a:avLst>
              <a:gd name="adj" fmla="val 16667"/>
            </a:avLst>
          </a:prstGeom>
          <a:solidFill>
            <a:srgbClr val="2C5F2E"/>
          </a:solidFill>
          <a:ln w="19050">
            <a:solidFill>
              <a:srgbClr val="5DBF5F"/>
            </a:solidFill>
          </a:ln>
        </p:spPr>
        <p:txBody>
          <a:bodyPr vert="horz" lIns="91440" tIns="91440" rIns="91440" bIns="91440" anchor="ctr"/>
          <a:lstStyle/>
          <a:p>
            <a:pPr algn="ctr">
              <a:spcBef>
                <a:spcPts val="0"/>
              </a:spcBef>
            </a:pPr>
            <a:r>
              <a:rPr lang="en-US" sz="5200" b="1">
                <a:solidFill>
                  <a:prstClr val="white"/>
                </a:solidFill>
                <a:latin typeface="Calibri"/>
              </a:rPr>
              <a:t>+75%</a:t>
            </a:r>
          </a:p>
          <a:p>
            <a:pPr algn="ctr">
              <a:spcBef>
                <a:spcPts val="100"/>
              </a:spcBef>
            </a:pPr>
            <a:r>
              <a:rPr lang="en-US" sz="1400">
                <a:solidFill>
                  <a:srgbClr val="A8D8A8"/>
                </a:solidFill>
                <a:latin typeface="Calibri"/>
              </a:rPr>
              <a:t>longer than control</a:t>
            </a:r>
          </a:p>
        </p:txBody>
      </p:sp>
      <p:sp>
        <p:nvSpPr>
          <p:cNvPr id="40" name="Box Outliers"/>
          <p:cNvSpPr>
            <a:spLocks noGrp="1"/>
          </p:cNvSpPr>
          <p:nvPr/>
        </p:nvSpPr>
        <p:spPr>
          <a:xfrm>
            <a:off x="7467600" y="2971800"/>
            <a:ext cx="4267200" cy="1600200"/>
          </a:xfrm>
          <a:prstGeom prst="roundRect">
            <a:avLst>
              <a:gd name="adj" fmla="val 16667"/>
            </a:avLst>
          </a:prstGeom>
          <a:solidFill>
            <a:srgbClr val="4A2500"/>
          </a:solidFill>
          <a:ln w="19050">
            <a:solidFill>
              <a:srgbClr val="FF8C00"/>
            </a:solidFill>
          </a:ln>
        </p:spPr>
        <p:txBody>
          <a:bodyPr vert="horz" lIns="91440" tIns="91440" rIns="91440" bIns="91440" anchor="ctr"/>
          <a:lstStyle/>
          <a:p>
            <a:pPr algn="ctr">
              <a:spcBef>
                <a:spcPts val="0"/>
              </a:spcBef>
            </a:pPr>
            <a:r>
              <a:rPr lang="en-US" sz="1300" b="1">
                <a:solidFill>
                  <a:srgbClr val="FFB347"/>
                </a:solidFill>
                <a:latin typeface="Calibri"/>
              </a:rPr>
              <a:t>EXTREME OUTLIERS (treatment only)</a:t>
            </a:r>
          </a:p>
          <a:p>
            <a:pPr algn="ctr">
              <a:spcBef>
                <a:spcPts val="200"/>
              </a:spcBef>
            </a:pPr>
            <a:r>
              <a:rPr lang="en-US" sz="4400" b="1">
                <a:solidFill>
                  <a:prstClr val="white"/>
                </a:solidFill>
                <a:latin typeface="Calibri"/>
              </a:rPr>
              <a:t>46.8s &amp; 56.2s</a:t>
            </a:r>
          </a:p>
          <a:p>
            <a:pPr algn="ctr">
              <a:spcBef>
                <a:spcPts val="100"/>
              </a:spcBef>
            </a:pPr>
            <a:r>
              <a:rPr lang="en-US" sz="1300">
                <a:solidFill>
                  <a:srgbClr val="FFB347"/>
                </a:solidFill>
                <a:latin typeface="Calibri"/>
              </a:rPr>
              <a:t>vs. control max of 4.7s</a:t>
            </a:r>
          </a:p>
        </p:txBody>
      </p:sp>
      <p:sp>
        <p:nvSpPr>
          <p:cNvPr id="60" name="Footnote"/>
          <p:cNvSpPr/>
          <p:nvPr/>
        </p:nvSpPr>
        <p:spPr>
          <a:xfrm>
            <a:off x="457200" y="5943600"/>
            <a:ext cx="11277600" cy="609600"/>
          </a:xfrm>
          <a:prstGeom prst="rect">
            <a:avLst/>
          </a:prstGeom>
          <a:noFill/>
        </p:spPr>
        <p:txBody>
          <a:bodyPr vert="horz" lIns="91440" tIns="0" rIns="91440" bIns="0" anchor="ctr"/>
          <a:lstStyle/>
          <a:p>
            <a:pPr algn="ctr">
              <a:spcBef>
                <a:spcPts val="0"/>
              </a:spcBef>
            </a:pPr>
            <a:endParaRPr lang="en-US" sz="1300" i="1">
              <a:solidFill>
                <a:srgbClr val="8899A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721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7C68E-D242-E06D-DDB5-7A5B348D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A3EF00-FF57-2454-F936-BA6F49CEE628}"/>
              </a:ext>
            </a:extLst>
          </p:cNvPr>
          <p:cNvSpPr txBox="1"/>
          <p:nvPr/>
        </p:nvSpPr>
        <p:spPr>
          <a:xfrm>
            <a:off x="5975960" y="927246"/>
            <a:ext cx="5489481" cy="5009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Respiration Results</a:t>
            </a:r>
          </a:p>
          <a:p>
            <a:pPr lvl="1"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Respiration increased over time in both groups</a:t>
            </a:r>
          </a:p>
          <a:p>
            <a:pPr lvl="1"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Control crabs showed higher oxygen consumption when averaged across all weeks</a:t>
            </a:r>
          </a:p>
          <a:p>
            <a:pPr lvl="2" indent="-228600" defTabSz="914400">
              <a:lnSpc>
                <a:spcPct val="120000"/>
              </a:lnSpc>
              <a:spcAft>
                <a:spcPts val="600"/>
              </a:spcAft>
              <a:buFont typeface="Wingdings" panose="020B0604020202020204" pitchFamily="34" charset="0"/>
              <a:buChar char="§"/>
            </a:pPr>
            <a:r>
              <a:rPr lang="en-US" sz="2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Weeks 1-3 all display slightly different results</a:t>
            </a:r>
          </a:p>
          <a:p>
            <a:pPr lvl="1"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No statistically significant treatment effect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CF693-4F46-41AE-53E7-096EDC811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78" y="3429259"/>
            <a:ext cx="4307734" cy="3035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7B44CA-006D-52A3-9D57-669D8646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9" y="197959"/>
            <a:ext cx="4305816" cy="304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29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Rectangle 3083">
            <a:extLst>
              <a:ext uri="{FF2B5EF4-FFF2-40B4-BE49-F238E27FC236}">
                <a16:creationId xmlns:a16="http://schemas.microsoft.com/office/drawing/2014/main" id="{4DE0D6BE-330A-422D-9BD9-1E18F73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3932C9-C609-4FA4-B1D9-51635904A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60459C-9842-A66D-2E41-29D171B0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9916" y="157143"/>
            <a:ext cx="10353761" cy="1326321"/>
          </a:xfrm>
        </p:spPr>
        <p:txBody>
          <a:bodyPr>
            <a:normAutofit/>
          </a:bodyPr>
          <a:lstStyle/>
          <a:p>
            <a:r>
              <a:rPr lang="en-US" b="1"/>
              <a:t>Key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A6BC0F-7F67-3466-4A39-63A96D5F0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5652" y="1329179"/>
            <a:ext cx="5282623" cy="53716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cs typeface="Arial"/>
              </a:rPr>
              <a:t> Righting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</a:rPr>
              <a:t>time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cs typeface="Arial"/>
              </a:rPr>
              <a:t> increased in crabs </a:t>
            </a:r>
            <a:r>
              <a:rPr lang="en-US" altLang="en-US" sz="2800">
                <a:effectLst/>
                <a:cs typeface="Arial"/>
              </a:rPr>
              <a:t>exposed to treatment</a:t>
            </a:r>
            <a:endParaRPr lang="en-US" altLang="en-US" sz="2800" i="0" u="none" strike="noStrike" cap="none" normalizeH="0" baseline="0">
              <a:ln>
                <a:noFill/>
              </a:ln>
              <a:effectLst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cs typeface="Arial"/>
              </a:rPr>
              <a:t> Respiration showed no significant treatment effect (p &gt; 0.05</a:t>
            </a:r>
            <a:r>
              <a:rPr lang="en-US" altLang="en-US" sz="2800">
                <a:effectLst/>
                <a:cs typeface="Arial"/>
              </a:rPr>
              <a:t>), but interesting visual trend </a:t>
            </a:r>
            <a:endParaRPr lang="en-US" altLang="en-US" sz="2800" i="0" u="none" strike="noStrike" cap="none" normalizeH="0" baseline="0">
              <a:ln>
                <a:noFill/>
              </a:ln>
              <a:effectLst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cs typeface="Arial"/>
              </a:rPr>
              <a:t> Glucose showed high variability between individuals </a:t>
            </a:r>
            <a:endParaRPr lang="en-US" altLang="en-US" sz="2800" i="0" u="none" strike="noStrike" cap="none" normalizeH="0" baseline="0">
              <a:ln>
                <a:noFill/>
              </a:ln>
              <a:effectLst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cs typeface="Arial"/>
              </a:rPr>
              <a:t> Behavioral effects were stronger than metabolic effects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>
                <a:effectLst/>
                <a:cs typeface="Arial"/>
              </a:rPr>
              <a:t>3 molts in control (2 deaths), 0 molts in experimental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E0767D-4469-36C5-8474-C7F31BA3B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230"/>
            <a:ext cx="5890812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02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4DE0D6BE-330A-422D-9BD9-1E18F73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B7D2F-0993-B6CE-D179-CF335A94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75775-B41E-E188-13BE-3B2C94B6F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6992" y="166540"/>
            <a:ext cx="10353761" cy="1326321"/>
          </a:xfrm>
        </p:spPr>
        <p:txBody>
          <a:bodyPr>
            <a:normAutofit/>
          </a:bodyPr>
          <a:lstStyle/>
          <a:p>
            <a:r>
              <a:rPr lang="en-US" b="1"/>
              <a:t>Limitations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6976AE-0193-C5B2-68F6-A1F09C032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675" y="1274994"/>
            <a:ext cx="5332427" cy="54164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 Small sample size </a:t>
            </a:r>
            <a:r>
              <a:rPr lang="en-US" altLang="en-US" sz="2800">
                <a:effectLst/>
              </a:rPr>
              <a:t>(decreased due to death and molting)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 Short-term exposure only 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 Laboratory conditions may not fully represent natural environments 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</a:rPr>
              <a:t> Only one noise type and intensity tested 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>
                <a:effectLst/>
              </a:rPr>
              <a:t>Model organism tested and not Dungeness crabs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BAA9EB-9489-A8A7-95AE-4B4B08BA4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777" y="-1"/>
            <a:ext cx="62185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81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E0D6BE-330A-422D-9BD9-1E18F73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8080B-D567-4FCF-009D-658AFA475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24E30E-84C5-BC1E-83E9-39AC248E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b="1"/>
              <a:t>Conclusions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955C01-2B94-70EC-881D-9A20856D1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12111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800"/>
              <a:t>Noise exposure altered crab behavior </a:t>
            </a:r>
          </a:p>
          <a:p>
            <a:r>
              <a:rPr lang="en-US" sz="2800"/>
              <a:t>Respiration and glucose responses were limited </a:t>
            </a:r>
          </a:p>
          <a:p>
            <a:r>
              <a:rPr lang="en-US" sz="2800"/>
              <a:t>Small sample size hurts statistical power, but we hypothesize that we exceeded the acute stress response and these crabs were experiencing an exhaustive state</a:t>
            </a:r>
          </a:p>
        </p:txBody>
      </p:sp>
    </p:spTree>
    <p:extLst>
      <p:ext uri="{BB962C8B-B14F-4D97-AF65-F5344CB8AC3E}">
        <p14:creationId xmlns:p14="http://schemas.microsoft.com/office/powerpoint/2010/main" val="369284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838200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prstClr val="white"/>
                </a:solidFill>
                <a:latin typeface="Calibri"/>
              </a:rPr>
              <a:t>What This Means for Dungeness Crab</a:t>
            </a:r>
          </a:p>
        </p:txBody>
      </p:sp>
      <p:sp>
        <p:nvSpPr>
          <p:cNvPr id="5" name="LeftHeader"/>
          <p:cNvSpPr/>
          <p:nvPr/>
        </p:nvSpPr>
        <p:spPr>
          <a:xfrm>
            <a:off x="304800" y="1143000"/>
            <a:ext cx="5638800" cy="533400"/>
          </a:xfrm>
          <a:prstGeom prst="rect">
            <a:avLst/>
          </a:prstGeom>
          <a:noFill/>
        </p:spPr>
        <p:txBody>
          <a:bodyPr vert="horz" lIns="91440" tIns="45720" rIns="91440" bIns="45720" anchor="ctr"/>
          <a:lstStyle/>
          <a:p>
            <a:r>
              <a:rPr lang="en-US" sz="2000" b="1">
                <a:latin typeface="Calibri"/>
              </a:rPr>
              <a:t>Dungeness Fishery</a:t>
            </a:r>
            <a:endParaRPr lang="en-US" sz="2000" b="1">
              <a:latin typeface="Calibri"/>
              <a:ea typeface="Calibri"/>
              <a:cs typeface="Calibri"/>
            </a:endParaRPr>
          </a:p>
        </p:txBody>
      </p:sp>
      <p:sp>
        <p:nvSpPr>
          <p:cNvPr id="55" name="Divider"/>
          <p:cNvSpPr/>
          <p:nvPr/>
        </p:nvSpPr>
        <p:spPr>
          <a:xfrm>
            <a:off x="6172200" y="1143000"/>
            <a:ext cx="38100" cy="5334000"/>
          </a:xfrm>
          <a:prstGeom prst="rect">
            <a:avLst/>
          </a:prstGeom>
          <a:solidFill>
            <a:srgbClr val="3A5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ightHeader"/>
          <p:cNvSpPr/>
          <p:nvPr/>
        </p:nvSpPr>
        <p:spPr>
          <a:xfrm>
            <a:off x="6553200" y="1143000"/>
            <a:ext cx="5334000" cy="533400"/>
          </a:xfrm>
          <a:prstGeom prst="rect">
            <a:avLst/>
          </a:prstGeom>
          <a:noFill/>
        </p:spPr>
        <p:txBody>
          <a:bodyPr vert="horz" lIns="91440" tIns="45720" rIns="91440" bIns="45720" anchor="ctr"/>
          <a:lstStyle/>
          <a:p>
            <a:pPr algn="l">
              <a:spcBef>
                <a:spcPts val="0"/>
              </a:spcBef>
            </a:pPr>
            <a:r>
              <a:rPr lang="en-US" sz="2000" b="1">
                <a:latin typeface="Calibri"/>
              </a:rPr>
              <a:t>HOW OUR RESULTS CONNECT</a:t>
            </a:r>
          </a:p>
        </p:txBody>
      </p:sp>
      <p:sp>
        <p:nvSpPr>
          <p:cNvPr id="40" name="RightBullets"/>
          <p:cNvSpPr/>
          <p:nvPr/>
        </p:nvSpPr>
        <p:spPr>
          <a:xfrm>
            <a:off x="6553200" y="1752600"/>
            <a:ext cx="5334000" cy="3657600"/>
          </a:xfrm>
          <a:prstGeom prst="rect">
            <a:avLst/>
          </a:prstGeom>
          <a:noFill/>
        </p:spPr>
        <p:txBody>
          <a:bodyPr vert="horz" lIns="91440" tIns="91440" rIns="91440" bIns="91440" anchor="t"/>
          <a:lstStyle/>
          <a:p>
            <a:pPr marL="228600" indent="-228600" algn="l">
              <a:spcBef>
                <a:spcPts val="0"/>
              </a:spcBef>
              <a:spcAft>
                <a:spcPts val="400"/>
              </a:spcAft>
              <a:buChar char="▶"/>
            </a:pPr>
            <a:r>
              <a:rPr lang="en-US" b="1">
                <a:latin typeface="Calibri"/>
              </a:rPr>
              <a:t>Noise-induced suppression </a:t>
            </a:r>
            <a:r>
              <a:rPr lang="en-US">
                <a:latin typeface="Calibri"/>
              </a:rPr>
              <a:t>during spawning could reduce Dungeness recruitment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Char char="▶"/>
            </a:pPr>
            <a:r>
              <a:rPr lang="en-US" b="1">
                <a:latin typeface="Calibri"/>
              </a:rPr>
              <a:t>Impaired righting response </a:t>
            </a:r>
            <a:r>
              <a:rPr lang="en-US">
                <a:latin typeface="Calibri"/>
              </a:rPr>
              <a:t>= easier prey for invasive green crabs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Char char="▶"/>
            </a:pPr>
            <a:r>
              <a:rPr lang="en-US" b="1">
                <a:latin typeface="Calibri"/>
              </a:rPr>
              <a:t>Coastal concert/event noise </a:t>
            </a:r>
            <a:r>
              <a:rPr lang="en-US">
                <a:latin typeface="Calibri"/>
              </a:rPr>
              <a:t>is currently unregulated in WA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400"/>
              </a:spcAft>
              <a:buChar char="▶"/>
            </a:pPr>
            <a:r>
              <a:rPr lang="en-US" b="1">
                <a:latin typeface="Calibri"/>
              </a:rPr>
              <a:t>These results justify </a:t>
            </a:r>
            <a:r>
              <a:rPr lang="en-US">
                <a:latin typeface="Calibri"/>
              </a:rPr>
              <a:t>including noise in environmental impact assessments for nearshore events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93850-381D-12CE-DCD5-79E2F77D68FA}"/>
              </a:ext>
            </a:extLst>
          </p:cNvPr>
          <p:cNvSpPr txBox="1"/>
          <p:nvPr/>
        </p:nvSpPr>
        <p:spPr>
          <a:xfrm>
            <a:off x="425087" y="1861586"/>
            <a:ext cx="4805798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$110M WA fishery value 2024-25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-44% catch decline over 2 seasons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H.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oregonensis</a:t>
            </a:r>
            <a:r>
              <a:rPr lang="en-US" sz="2000" dirty="0">
                <a:latin typeface="Calibri"/>
                <a:ea typeface="Calibri"/>
                <a:cs typeface="Calibri"/>
              </a:rPr>
              <a:t> shares body plan, physiology, and habitat with the Dungeness crab making it a valid proxy organism</a:t>
            </a:r>
          </a:p>
          <a:p>
            <a:pPr marL="285750" indent="-28575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Next step: Replicate with larger n, longer exposures, varied noise types, and direct testing on </a:t>
            </a:r>
            <a:r>
              <a:rPr lang="en-US" sz="2000" i="1" dirty="0" err="1">
                <a:latin typeface="Calibri"/>
                <a:ea typeface="Calibri"/>
                <a:cs typeface="Calibri"/>
              </a:rPr>
              <a:t>Metacarcinus</a:t>
            </a:r>
            <a:r>
              <a:rPr lang="en-US" sz="2000" i="1" dirty="0">
                <a:latin typeface="Calibri"/>
                <a:ea typeface="Calibri"/>
                <a:cs typeface="Calibri"/>
              </a:rPr>
              <a:t> magister</a:t>
            </a:r>
            <a:r>
              <a:rPr lang="en-US" sz="2000" dirty="0">
                <a:latin typeface="Calibri"/>
                <a:ea typeface="Calibri"/>
                <a:cs typeface="Calibri"/>
              </a:rPr>
              <a:t> to inform WA noise ordinances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38214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E0D6BE-330A-422D-9BD9-1E18F73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76948-752D-46AF-793D-FB1308EE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5516BB-3F67-BFC3-D808-DE6252EA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702" y="-146493"/>
            <a:ext cx="10353761" cy="1326321"/>
          </a:xfrm>
        </p:spPr>
        <p:txBody>
          <a:bodyPr>
            <a:normAutofit/>
          </a:bodyPr>
          <a:lstStyle/>
          <a:p>
            <a:r>
              <a:rPr lang="en-US"/>
              <a:t>Future Implications +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800F-CFA7-C164-871A-600ED276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516" y="944204"/>
            <a:ext cx="10353762" cy="36951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/>
              <a:t>Warrants further investigation (intensities + noise types)</a:t>
            </a:r>
          </a:p>
          <a:p>
            <a:r>
              <a:rPr lang="en-US" sz="2800"/>
              <a:t>Future studies will inform noise regulations for coastal events and development</a:t>
            </a:r>
            <a:endParaRPr lang="en-US"/>
          </a:p>
          <a:p>
            <a:r>
              <a:rPr lang="en-US" sz="2800"/>
              <a:t>Incorporate noise pollution into environmental impact assessments</a:t>
            </a:r>
          </a:p>
          <a:p>
            <a:r>
              <a:rPr lang="en-US" sz="2800"/>
              <a:t>Improve understanding of human impacts on intertidal ecosystems</a:t>
            </a:r>
          </a:p>
          <a:p>
            <a:r>
              <a:rPr lang="en-US" sz="2800"/>
              <a:t>Support future fisheries and habitat management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65370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CB1D-49DC-40C5-AE3D-A4F8F8A8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102679"/>
            <a:ext cx="10353761" cy="1326321"/>
          </a:xfrm>
        </p:spPr>
        <p:txBody>
          <a:bodyPr>
            <a:noAutofit/>
          </a:bodyPr>
          <a:lstStyle/>
          <a:p>
            <a:r>
              <a:rPr lang="en-US" sz="9600"/>
              <a:t>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E5AD7-4E18-87FF-B8ED-191ED538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516" y="3961928"/>
            <a:ext cx="2789348" cy="22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1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67FBB-0091-9D0A-405A-C3A5199C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F66C25-25D7-719E-E8A6-8E7D137E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43" y="0"/>
            <a:ext cx="10353761" cy="1326321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EA1C-75F1-585D-2E0B-3F2704AE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8" y="1326321"/>
            <a:ext cx="10353762" cy="4761936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Jalkanen, J.-P., Johansson, L., Andersson, M. H., </a:t>
            </a:r>
            <a:r>
              <a:rPr lang="en-US" sz="4000" err="1">
                <a:solidFill>
                  <a:srgbClr val="1B1B1B"/>
                </a:solidFill>
                <a:latin typeface="Times New Roman"/>
                <a:cs typeface="Times New Roman"/>
              </a:rPr>
              <a:t>Majamäki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, E., &amp; </a:t>
            </a:r>
            <a:r>
              <a:rPr lang="en-US" sz="4000" err="1">
                <a:solidFill>
                  <a:srgbClr val="1B1B1B"/>
                </a:solidFill>
                <a:latin typeface="Times New Roman"/>
                <a:cs typeface="Times New Roman"/>
              </a:rPr>
              <a:t>Sigray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, P. (2022). Underwater noise emissions from ships during 2014–2020. </a:t>
            </a:r>
            <a:r>
              <a:rPr lang="en-US" sz="4000" i="1">
                <a:solidFill>
                  <a:srgbClr val="1B1B1B"/>
                </a:solidFill>
                <a:latin typeface="Times New Roman"/>
                <a:cs typeface="Times New Roman"/>
              </a:rPr>
              <a:t>Environmental Pollution, 311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, 119766.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  <a:hlinkClick r:id="rId3"/>
              </a:rPr>
              <a:t> </a:t>
            </a:r>
            <a:r>
              <a:rPr lang="en-US" sz="4000">
                <a:solidFill>
                  <a:srgbClr val="1155CC"/>
                </a:solidFill>
                <a:latin typeface="Times New Roman"/>
                <a:cs typeface="Times New Roman"/>
                <a:hlinkClick r:id="rId3"/>
              </a:rPr>
              <a:t>https://doi.org/10.1016/j.envpol.2022.119766</a:t>
            </a:r>
            <a:endParaRPr lang="en-US" sz="4000"/>
          </a:p>
          <a:p>
            <a:endParaRPr lang="en-US" sz="4000">
              <a:solidFill>
                <a:srgbClr val="1155CC"/>
              </a:solidFill>
              <a:latin typeface="Times New Roman"/>
              <a:cs typeface="Times New Roman"/>
            </a:endParaRPr>
          </a:p>
          <a:p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Holt, M. M., Emmons, C. K., Dziak, R. P., Mellinger, D. K., &amp; Haver, S. M. (2026). </a:t>
            </a:r>
            <a:r>
              <a:rPr lang="en-US" sz="4000" i="1">
                <a:solidFill>
                  <a:srgbClr val="1B1B1B"/>
                </a:solidFill>
                <a:latin typeface="Times New Roman"/>
                <a:cs typeface="Times New Roman"/>
              </a:rPr>
              <a:t>Underwater acoustic monitoring desktop study: A collaborative initiative between Port of Seattle (</a:t>
            </a:r>
            <a:r>
              <a:rPr lang="en-US" sz="4000" i="1" err="1">
                <a:solidFill>
                  <a:srgbClr val="1B1B1B"/>
                </a:solidFill>
                <a:latin typeface="Times New Roman"/>
                <a:cs typeface="Times New Roman"/>
              </a:rPr>
              <a:t>PoS</a:t>
            </a:r>
            <a:r>
              <a:rPr lang="en-US" sz="4000" i="1">
                <a:solidFill>
                  <a:srgbClr val="1B1B1B"/>
                </a:solidFill>
                <a:latin typeface="Times New Roman"/>
                <a:cs typeface="Times New Roman"/>
              </a:rPr>
              <a:t>) and the National Oceanic and Atmospheric Administration (NOAA)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 (NOAA Technical Memorandum NMFS-NWFSC-207). NOAA.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  <a:hlinkClick r:id="rId4"/>
              </a:rPr>
              <a:t> </a:t>
            </a:r>
            <a:r>
              <a:rPr lang="en-US" sz="4000">
                <a:solidFill>
                  <a:srgbClr val="1155CC"/>
                </a:solidFill>
                <a:latin typeface="Times New Roman"/>
                <a:cs typeface="Times New Roman"/>
                <a:hlinkClick r:id="rId4"/>
              </a:rPr>
              <a:t>https://doi.org/10.25923/g589-6539</a:t>
            </a:r>
            <a:endParaRPr lang="en-US" sz="4000"/>
          </a:p>
          <a:p>
            <a:endParaRPr lang="en-US" sz="4000">
              <a:solidFill>
                <a:srgbClr val="1155CC"/>
              </a:solidFill>
              <a:latin typeface="Times New Roman"/>
              <a:cs typeface="Times New Roman"/>
            </a:endParaRPr>
          </a:p>
          <a:p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Aimon, C., Simpson, S. D., Hazelwood, R. A., </a:t>
            </a:r>
            <a:r>
              <a:rPr lang="en-US" sz="4000" err="1">
                <a:solidFill>
                  <a:srgbClr val="1B1B1B"/>
                </a:solidFill>
                <a:latin typeface="Times New Roman"/>
                <a:cs typeface="Times New Roman"/>
              </a:rPr>
              <a:t>Bruintjes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, R., &amp; Urbina, M. A. (2021). Anthropogenic underwater vibrations are sensed and stressful for the shore crab </a:t>
            </a:r>
            <a:r>
              <a:rPr lang="en-US" sz="4000" i="1" err="1">
                <a:solidFill>
                  <a:srgbClr val="1B1B1B"/>
                </a:solidFill>
                <a:latin typeface="Times New Roman"/>
                <a:cs typeface="Times New Roman"/>
              </a:rPr>
              <a:t>Carcinus</a:t>
            </a:r>
            <a:r>
              <a:rPr lang="en-US" sz="4000" i="1">
                <a:solidFill>
                  <a:srgbClr val="1B1B1B"/>
                </a:solidFill>
                <a:latin typeface="Times New Roman"/>
                <a:cs typeface="Times New Roman"/>
              </a:rPr>
              <a:t> </a:t>
            </a:r>
            <a:r>
              <a:rPr lang="en-US" sz="4000" i="1" err="1">
                <a:solidFill>
                  <a:srgbClr val="1B1B1B"/>
                </a:solidFill>
                <a:latin typeface="Times New Roman"/>
                <a:cs typeface="Times New Roman"/>
              </a:rPr>
              <a:t>maenas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. </a:t>
            </a:r>
            <a:r>
              <a:rPr lang="en-US" sz="4000" i="1">
                <a:solidFill>
                  <a:srgbClr val="1B1B1B"/>
                </a:solidFill>
                <a:latin typeface="Times New Roman"/>
                <a:cs typeface="Times New Roman"/>
              </a:rPr>
              <a:t>Environmental Pollution, 285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</a:rPr>
              <a:t>, 117148.</a:t>
            </a:r>
            <a:r>
              <a:rPr lang="en-US" sz="4000">
                <a:solidFill>
                  <a:srgbClr val="1B1B1B"/>
                </a:solidFill>
                <a:latin typeface="Times New Roman"/>
                <a:cs typeface="Times New Roman"/>
                <a:hlinkClick r:id="rId5"/>
              </a:rPr>
              <a:t> </a:t>
            </a:r>
            <a:r>
              <a:rPr lang="en-US" sz="4000">
                <a:solidFill>
                  <a:srgbClr val="1155CC"/>
                </a:solidFill>
                <a:latin typeface="Times New Roman"/>
                <a:cs typeface="Times New Roman"/>
                <a:hlinkClick r:id="rId5"/>
              </a:rPr>
              <a:t>https://doi.org/10.1016/j.envpol.2021.117148</a:t>
            </a:r>
            <a:endParaRPr lang="en-US" sz="4000">
              <a:solidFill>
                <a:srgbClr val="1155CC"/>
              </a:solidFill>
              <a:latin typeface="Times New Roman"/>
              <a:cs typeface="Times New Roman"/>
            </a:endParaRPr>
          </a:p>
          <a:p>
            <a:endParaRPr lang="en-US" sz="3200">
              <a:solidFill>
                <a:srgbClr val="1155CC"/>
              </a:solidFill>
              <a:latin typeface="Times New Roman"/>
              <a:cs typeface="Times New Roman"/>
            </a:endParaRPr>
          </a:p>
          <a:p>
            <a:r>
              <a:rPr lang="en-US" sz="4000">
                <a:solidFill>
                  <a:srgbClr val="1155CC"/>
                </a:solidFill>
                <a:latin typeface="Arial"/>
                <a:cs typeface="Arial"/>
              </a:rPr>
              <a:t>•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Birch A, Cox KD, </a:t>
            </a:r>
            <a:r>
              <a:rPr lang="en-US" sz="4000" err="1">
                <a:solidFill>
                  <a:srgbClr val="000000"/>
                </a:solidFill>
                <a:latin typeface="Aptos"/>
                <a:cs typeface="Times New Roman"/>
              </a:rPr>
              <a:t>Murchy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 KA, Emry S, Harley CDG. Shipping noise tolerance in invertebrates: A case study of the shore crab </a:t>
            </a:r>
            <a:r>
              <a:rPr lang="en-US" sz="4000" err="1">
                <a:solidFill>
                  <a:srgbClr val="000000"/>
                </a:solidFill>
                <a:latin typeface="Aptos"/>
                <a:cs typeface="Times New Roman"/>
              </a:rPr>
              <a:t>Hemigrapsus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Aptos"/>
                <a:cs typeface="Times New Roman"/>
              </a:rPr>
              <a:t>oregonensis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. </a:t>
            </a:r>
            <a:r>
              <a:rPr lang="en-US" sz="4000" err="1">
                <a:solidFill>
                  <a:srgbClr val="000000"/>
                </a:solidFill>
                <a:latin typeface="Aptos"/>
                <a:cs typeface="Times New Roman"/>
              </a:rPr>
              <a:t>PLoS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 One. 2025 Aug 12;20(8):e0329098. </a:t>
            </a:r>
            <a:r>
              <a:rPr lang="en-US" sz="4000" err="1">
                <a:solidFill>
                  <a:srgbClr val="000000"/>
                </a:solidFill>
                <a:latin typeface="Aptos"/>
                <a:cs typeface="Times New Roman"/>
              </a:rPr>
              <a:t>doi</a:t>
            </a:r>
            <a:r>
              <a:rPr lang="en-US" sz="4000">
                <a:solidFill>
                  <a:srgbClr val="000000"/>
                </a:solidFill>
                <a:latin typeface="Aptos"/>
                <a:cs typeface="Times New Roman"/>
              </a:rPr>
              <a:t>: 10.1371/journal.pone.0329098. PMID: 40794759; PMCID: PMC12342237.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85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947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Bookman Old Style</vt:lpstr>
      <vt:lpstr>Calibri</vt:lpstr>
      <vt:lpstr>Courier New</vt:lpstr>
      <vt:lpstr>Rockwell</vt:lpstr>
      <vt:lpstr>Times New Roman</vt:lpstr>
      <vt:lpstr>Wingdings</vt:lpstr>
      <vt:lpstr>Damask</vt:lpstr>
      <vt:lpstr>PowerPoint Presentation</vt:lpstr>
      <vt:lpstr>Why should we care?</vt:lpstr>
      <vt:lpstr>Research Hypothesis</vt:lpstr>
      <vt:lpstr>PowerPoint Presentation</vt:lpstr>
      <vt:lpstr>PowerPoint Presentation</vt:lpstr>
      <vt:lpstr>PowerPoint Presentation</vt:lpstr>
      <vt:lpstr>PowerPoint Presentation</vt:lpstr>
      <vt:lpstr>Righting Time in simple terms</vt:lpstr>
      <vt:lpstr>PowerPoint Presentation</vt:lpstr>
      <vt:lpstr>Key Results</vt:lpstr>
      <vt:lpstr>Limitations</vt:lpstr>
      <vt:lpstr>Conclusions</vt:lpstr>
      <vt:lpstr>What This Means for Dungeness Crab</vt:lpstr>
      <vt:lpstr>Future Implications + Steps</vt:lpstr>
      <vt:lpstr>Questions?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Lloyd</dc:creator>
  <cp:lastModifiedBy>Dom .</cp:lastModifiedBy>
  <cp:revision>6</cp:revision>
  <dcterms:created xsi:type="dcterms:W3CDTF">2026-04-14T23:01:15Z</dcterms:created>
  <dcterms:modified xsi:type="dcterms:W3CDTF">2026-06-02T20:19:44Z</dcterms:modified>
</cp:coreProperties>
</file>